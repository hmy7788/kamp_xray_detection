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BFD4F2"/>
                </a:solidFill>
                <a:latin typeface="맑은 고딕"/>
              </a:rPr>
              <a:t>제6회 K-인공지능 제조데이터 분석 경진대회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X-ray 이물 검출 모델 6종을 비교하고
일반화·강건성까지 검증해 베스트 모델을 선정하다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8FD8E2"/>
                </a:solidFill>
                <a:latin typeface="맑은 고딕"/>
              </a:rPr>
              <a:t>영상 기반 완제품 이물질 탐지 및 AI 미탐지 조건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팀명: [확정 필요]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허민엽 · 정연창 · 이총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문제와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약 10px의 작은 점(금속구)을 찾는 검출 문제, 이미지는 모두 NG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47548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X-ray 이물 검출기 영상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2,532장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, 박스 4,494개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호기 3종, 해상도 4종 (316x332 ~ 576x444)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train 1,767 / val 369 / test 396장 (연속 촬영 묶음 단위, 시드 42)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라벨이 두 종류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: 공식 500장은 사람이 그려 크기가 제각각(5~21px), 팀 라벨 2,032장은 클릭 중심에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고정 크기 네모(10·13px)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를 자동 생성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정상 이미지가 없다(빈 라벨 105장은 제품이 반만 찍힌 사진)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장비가 그린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색 표시는 전처리로 제거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(다음 슬라이드)</a:t>
            </a:r>
          </a:p>
        </p:txBody>
      </p:sp>
      <p:pic>
        <p:nvPicPr>
          <p:cNvPr id="7" name="Picture 6" descr="fig1a_data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672161"/>
            <a:ext cx="6400800" cy="26109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전처리: 색 윤곽만 지우고 점은 남긴다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장비가 그린 색 사각형을 주변 회색 5x5 평균으로 메운 뒤 회색조 PNG로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3</a:t>
            </a:r>
          </a:p>
        </p:txBody>
      </p:sp>
      <p:pic>
        <p:nvPicPr>
          <p:cNvPr id="6" name="Picture 5" descr="fig5a_pre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69" y="1600200"/>
            <a:ext cx="7065541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83080"/>
            <a:ext cx="4114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색 표시는 결함 둘레의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가는 사각형 윤곽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(장당 128~660픽셀), 점은 그대로 남는다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지우는 이유: 공식 라벨 중심의 99.8%가 색 박스 안 → 지우지 않으면 모델이 "색 네모 찾기"를 배운다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원본 BMP에 같은 방법을 다시 적용하면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2,532장 모두 픽셀 단위로 일치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(검증 코드 포함)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코드는 이총의 브랜치(scripts/preprocess/)에 있고 main 병합이 필요하다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실험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학습·평가 → 못 찾은 것의 원인 → 일반화·robust 평가 → 베스트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764792" cy="3017520"/>
          </a:xfrm>
          <a:prstGeom prst="roundRect">
            <a:avLst/>
          </a:prstGeom>
          <a:solidFill>
            <a:srgbClr val="DDE6F7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① 학습·검증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·평가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6개 모델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임계값 val 고정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test는 한 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5415" y="315468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55B66"/>
                </a:solidFill>
                <a:latin typeface="맑은 고딕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8296" y="1828800"/>
            <a:ext cx="1764792" cy="3017520"/>
          </a:xfrm>
          <a:prstGeom prst="roundRect">
            <a:avLst/>
          </a:prstGeom>
          <a:solidFill>
            <a:srgbClr val="FBE7CC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② 못 찾은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것이 있다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정답 663개 중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6~9개 놓침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F1 0.99 안팎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1" y="315468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55B66"/>
                </a:solidFill>
                <a:latin typeface="맑은 고딕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1764792" cy="3017520"/>
          </a:xfrm>
          <a:prstGeom prst="roundRect">
            <a:avLst/>
          </a:prstGeom>
          <a:solidFill>
            <a:srgbClr val="D6ECDC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③ 원인은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라벨 문제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공식 라벨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박스 크기 문제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중심 거리로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재채점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→ 거의 다 찾음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315468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55B66"/>
                </a:solidFill>
                <a:latin typeface="맑은 고딕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28800"/>
            <a:ext cx="1764792" cy="3017520"/>
          </a:xfrm>
          <a:prstGeom prst="roundRect">
            <a:avLst/>
          </a:prstGeom>
          <a:solidFill>
            <a:srgbClr val="F5D9D9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④ 일반화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·robust 평가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점 제거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가짜 정상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합성 점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호기별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315468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55B66"/>
                </a:solidFill>
                <a:latin typeface="맑은 고딕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28800"/>
            <a:ext cx="1764792" cy="3017520"/>
          </a:xfrm>
          <a:prstGeom prst="roundRect">
            <a:avLst/>
          </a:prstGeom>
          <a:solidFill>
            <a:srgbClr val="E6DCF0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⑤ 종합 →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베스트 모델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val 동률 선두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미탐지 강건성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최상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→ D-FINE-N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15468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555B66"/>
                </a:solidFill>
                <a:latin typeface="맑은 고딕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828800"/>
            <a:ext cx="1764792" cy="3017520"/>
          </a:xfrm>
          <a:prstGeom prst="roundRect">
            <a:avLst/>
          </a:prstGeom>
          <a:solidFill>
            <a:srgbClr val="F1ECD2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⑥ 현장 활용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3단 판정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재검사 구간</a:t>
            </a:r>
          </a:p>
          <a:p>
            <a:pPr algn="ctr">
              <a:spcAft>
                <a:spcPts val="300"/>
              </a:spcAft>
            </a:pPr>
            <a:r>
              <a:rPr sz="1300">
                <a:solidFill>
                  <a:srgbClr val="222222"/>
                </a:solidFill>
                <a:latin typeface="맑은 고딕"/>
              </a:rPr>
              <a:t>모델 선택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78992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모델 6개: 베이스라인 YOLOv3-tiny, Faster R-CNN(ResNet-50, MobileNetV3), 팀원 모델 YOLO26n · RT-DETR-l · D-FINE-N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모든 모델을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같은 평가 코드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로 채점하고, 임계값은 val에서 정해 고정, test는 한 번만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① 학습 · 검증 ·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지금 있는 데이터로 6개 모델을 같은 조건에서 학습하고 평가했다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758951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265"/>
                <a:gridCol w="767479"/>
                <a:gridCol w="3069918"/>
                <a:gridCol w="1193857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학습 설정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val 임계값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YOLOv3-tiny (베이스라인)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COCO 사전학습, 100 epoch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ResNet-50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COCO 사전학습, 20 epoch(선택 7)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0.95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MobileNetV3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COCO 사전학습, 20 epoch(선택 18)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YOLO26n (팀원)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1024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COCO 사전학습, 40 epoch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0.42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RT-DETR-l (팀원)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COCO 사전학습, 최대 30 epoch(계획)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0.74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D-FINE-N (팀원)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학습 설정 기록 [확인 필요]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0.66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783080"/>
            <a:ext cx="34747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같은 데이터·분할, 같은 평가 코드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임계값은 모델마다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val에서 F1 최대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로 정해 고정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test는 한 번만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평가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팀원 모델은 가중치를 받아 같은 코드로 다시 평가(임계값도 다시 선정)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결과: 몇 개를 못 찾았다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F1은 0.986~0.991, 정답 663개 중 6~9개를 놓쳤고 거의 전부 공식 라벨 이미지다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73152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371600"/>
                <a:gridCol w="210312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모델 (test, IoU 0.5)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못 찾음(FN)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그중 공식 라벨 이미지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YOLOv3-tiny (베이스라인)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R50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MobileNetV3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0.986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YOLO26n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0.991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RT-DETR-l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0.988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D-FINE-N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783080"/>
            <a:ext cx="3749039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공식 라벨만 보면 F1은 0.96대로 내려간다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FP도 같은 수 → 같은 점을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어긋난 박스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로 낸 것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→ 정말 놓친 것일까? 놓친 자리를 직접 확인했다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실제 검출 예시: 6개 모델이 같은 점을 찾았다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호기마다 한 장씩, 초록 = 정답, 색 = 모델의 검출과 신뢰도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7</a:t>
            </a:r>
          </a:p>
        </p:txBody>
      </p:sp>
      <p:pic>
        <p:nvPicPr>
          <p:cNvPr id="6" name="Picture 5" descr="fig5b_detec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10" y="1508759"/>
            <a:ext cx="6379899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783080"/>
            <a:ext cx="39319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1~3행: 6개 모델 모두 점을 정확히 감싼다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신뢰도 척도가 모델마다 다르다(YOLOv3-tiny 0.4~0.5, 나머지 0.8~1.0) → 임계값을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모델마다 val에서 따로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 정한 이유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4행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: 점은 찾았지만 정답 박스(초록)가 더 커서 IoU가 0.5에 못 미친다 → "못 찾음"으로 집계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원인: 공식 라벨의 박스 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놓친 것이 아니라 정답 박스의 크기가 달라서 IoU가 0.5에 못 미친 것이다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8</a:t>
            </a:r>
          </a:p>
        </p:txBody>
      </p:sp>
      <p:pic>
        <p:nvPicPr>
          <p:cNvPr id="6" name="Picture 5" descr="fig3a_fn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0183"/>
            <a:ext cx="6949440" cy="4154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783080"/>
            <a:ext cx="4114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오류가 난 이미지는 거의 전부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공식 라벨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(사람이 그려 크기가 제각각)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확대하면 모델 박스는 점을 정확히 감쌈(중심 거리 0.5~1.2px)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정답 박스가 더 작거나(6x7, 9x5) 더 큼(14x15)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팀 라벨은 고정 크기라 IoU가 잘 맞아 점수가 부풀려진다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해결: 중심 거리로 재채점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중심이 정답에서 R(px) 이내면 찾은 것으로 보면 거의 다 찾는다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9</a:t>
            </a:r>
          </a:p>
        </p:txBody>
      </p:sp>
      <p:pic>
        <p:nvPicPr>
          <p:cNvPr id="6" name="Picture 5" descr="fig5d_fn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64069"/>
            <a:ext cx="6309360" cy="2764100"/>
          </a:xfrm>
          <a:prstGeom prst="rect">
            <a:avLst/>
          </a:prstGeom>
        </p:spPr>
      </p:pic>
      <p:pic>
        <p:nvPicPr>
          <p:cNvPr id="7" name="Picture 6" descr="fig2b_center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55869"/>
            <a:ext cx="5303520" cy="23805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83480"/>
            <a:ext cx="11155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R = 5px로 재채점하면 못 찾은 것이 4개 모델은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0개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, MobileNetV3·RT-DETR-l은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1개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. R ≥ 3px에서 6개 모델의 F1은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0.998~1.000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(포화)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IoU 0.5는 사실상 "중심이 2px 이내인가"를 재고 있었다(2px로 조이면 8~23개). 남는 차이는 위치 정밀도: mAP50-95는 D-FINE-N 0.659 &gt; RT-DETR-l 0.639 &gt; YOLO26n 0.633 &gt; R50 0.611 &gt; MobileNetV3 0.559 ≈ YOLOv3-tiny 0.558 (공식 라벨만 보면 0.335~0.365로 좁아짐)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② 일반화와 robust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실제 데이터에서는 다 찾으니, 조건을 인위적으로 바꿔 모델을 시험한다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663439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시험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묻는 것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점 제거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모델이 결함의 점 자체를 보는가, 위치나 주변만 보는가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정답의 점을 보간으로 지운 이미지에 다시 적용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가짜 정상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결함이 없는 이미지에서 오경보를 내는가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점을 지운 이미지(결함 369장)를 가짜 정상으로 사용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합성 점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옅은 점·다른 호기에서도 찾는가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작대기 안에만 점을 합성(진하기 4 x 크기 3), 시드 42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호기·해상도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특정 호기나 해상도에서 약한가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호기·해상도별로 나눠 평가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합성·가짜 정상은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인위적인 이미지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라 실제 현장 성능이 아니라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모델 간 상대 비교와 취약점 탐색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으로 해석한다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점 제거: 모델은 점 자체를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결함의 점을 지우면 검출이 사라진다 → 위치만 보는 지름길이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11</a:t>
            </a:r>
          </a:p>
        </p:txBody>
      </p:sp>
      <p:pic>
        <p:nvPicPr>
          <p:cNvPr id="6" name="Picture 5" descr="fig3b_dot_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00" y="1554479"/>
            <a:ext cx="7365719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78992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test 정답 663개의 점을 보간으로 지우고 같은 모델을 다시 적용: 노이즈 없는 평균 보간으로 13x13 이상 지우면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6개 모델 모두 0~3개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만 검출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YOLOv3-tiny 등에 남는 반응은 보간에 더한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노이즈 무늬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때문 → 다음 질문: 노이즈 무늬에 속아 오경보를 내는가?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가짜 정상: 노이즈 보간에는 R50과 YOLO26n만 속지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정상 이미지가 없어 결함의 점을 지운 이미지로 오경보를 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가짜 정상은 진짜 정상 제품이 아니다. 오경보율은 범위로 해석한다.</a:t>
            </a:r>
          </a:p>
        </p:txBody>
      </p:sp>
      <p:pic>
        <p:nvPicPr>
          <p:cNvPr id="7" name="Picture 6" descr="fig3l_robus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9795"/>
            <a:ext cx="11247120" cy="3158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20640"/>
            <a:ext cx="109728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NS+노이즈 6px 오경보율: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R50 0.5%, YOLO26n 4.1%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, RT-DETR-l 37%, YOLOv3-tiny 39%, D-FINE-N 49%, MobileNetV3 64%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오경보는 대부분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지운 자리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에서 발생, 분리도(AUC)는 MobileNet 0.842·D-FINE 0.900이 가장 나쁨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가짜 정상 예시: 노이즈 무늬를 점으로 착각한다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평균 보간으로 지우면 반응이 없지만, 노이즈를 더하면 일부 모델이 반응한다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예시 두 장(집계는 앞 슬라이드의 369장). 이 예시의 노이즈는 이미지마다 새 난수(시드 0)로 만들어 집계용 이미지와 값이 다르다.</a:t>
            </a:r>
          </a:p>
        </p:txBody>
      </p:sp>
      <p:pic>
        <p:nvPicPr>
          <p:cNvPr id="7" name="Picture 6" descr="fig5c_fak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15" y="1463040"/>
            <a:ext cx="5296168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783080"/>
            <a:ext cx="46634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왼쪽 열: 원본 → 6개 모델이 모두 검출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가운데: 평균 보간으로 점을 지움 → 반응 없음(점이 단서)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오른쪽 아래(1호기): NS 보간 + 노이즈로 지운 자리의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노이즈 무늬를 점으로 착각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해 YOLOv3-tiny, MobileNetV3, RT-DETR-l, D-FINE-N이 반응, R50과 YOLO26n은 반응 없음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→ 점의 모양보다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질감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에 반응하는 모델이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합성 점: 작대기 안에만, 시드 42로 모두가 같게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실제로는 놓침이 사실상 없어서, 미탐지 조건을 직접 만들어 시험했다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14</a:t>
            </a:r>
          </a:p>
        </p:txBody>
      </p:sp>
      <p:pic>
        <p:nvPicPr>
          <p:cNvPr id="6" name="Picture 5" descr="fig3m_synth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98" y="1645920"/>
            <a:ext cx="4677083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783080"/>
            <a:ext cx="5029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실제 점을 지우고 영상에서 찾은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작대기(막대) 안쪽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에만 val의 실제 점(투과율 조각)을 합성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점의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진하기(4단계) x 크기(3단계)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를 바꿔 옅은 점까지 시험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test 바탕 386장, 점 1,436개. 실제 점 663개가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전부 검출된 막대에 닿음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시드 42 + 이미지 이름별 시드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로 고정, 기준본과 --verify로 팀원 PC에서 같은 데이터인지 확인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합성은 실제보다 약 10%p 덜 현실적 → 절대 수치가 아닌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상대 비교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합성 점 조건별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진하기(s)와 크기(f)를 바꾸면 대비가 달라지고, 대비가 낮을수록 눈에도 안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15</a:t>
            </a:r>
          </a:p>
        </p:txBody>
      </p:sp>
      <p:pic>
        <p:nvPicPr>
          <p:cNvPr id="6" name="Picture 5" descr="fig3n_synth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54" y="1600200"/>
            <a:ext cx="954301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10789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s = 깊이 배율(1.0이 실제 점 세기), f = 크기 배율, 대비 = 둘레 밝기 − 점 밝기. 40x40px를 7배 확대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대비 6 미만은 거의 보이지 않고 모든 모델이 못 찾는다. 실제 test 점의 대비 중앙값은 22.8이라 s=1.0 근처가 실제 수준이다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합성 점 결과: 옅은 점이 미탐지 조건이다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val 임계값에서는 D-FINE-N이 앞서지만 대부분 느슨한 임계값 효과, 맞추면 차이가 줄어든다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합성 점 시험은 test 이미지가 바탕이며 참고용이다. 합성 점 AP와 오경보 예산 비교는 합성 이미지 자체로 계산한 분석용 수치다.</a:t>
            </a:r>
          </a:p>
        </p:txBody>
      </p:sp>
      <p:pic>
        <p:nvPicPr>
          <p:cNvPr id="7" name="Picture 6" descr="fig3k_compa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60" y="1645919"/>
            <a:ext cx="11066599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983480"/>
            <a:ext cx="10972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대비(둘레-점 밝기) 6 미만은 모든 모델이 거의 0%, 20 이상에서 약 77~89%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임계값과 무관한 합성 점 AP: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D-FINE-N 0.574 ≈ R50 0.567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 &gt; YOLOv3-tiny 0.515 ≈ YOLO26n 0.501 &gt; RT-DETR-l 0.451 &gt;&gt; </a:t>
            </a:r>
            <a:r>
              <a:rPr sz="1500" b="1">
                <a:solidFill>
                  <a:srgbClr val="222222"/>
                </a:solidFill>
                <a:latin typeface="맑은 고딕"/>
              </a:rPr>
              <a:t>MobileNetV3 0.262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3호기(대비 14 이상): MobileNetV3 4%, YOLO26n·RT-DETR-l 약 61%, R50·YOLOv3-tiny·D-FINE-N은 호기 차이가 작음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호기·해상도: 뚜렷한 효과는 확인되지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가장 낮은 그룹은 공식 라벨 박스가 76%여서 IoU 점수가 낮을 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17</a:t>
            </a:r>
          </a:p>
        </p:txBody>
      </p:sp>
      <p:pic>
        <p:nvPicPr>
          <p:cNvPr id="6" name="Picture 5" descr="fig3f_group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98" y="1554480"/>
            <a:ext cx="11060723" cy="3383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29200"/>
            <a:ext cx="107899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해상도별 공식 라벨 박스 비율이 10~76%로 달라 라벨 구성이 섞인다. 공식 라벨 이미지끼리만 비교하면 F1이 0.956~0.977로 좁아지고 구간이 겹친다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그룹별 표본이 작다(공식 라벨 이미지 호기별 20~36장). 합성 점에서 보인 3호기 약점은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모델에 따라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다르다(앞 슬라이드)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③ 종합: 모델별 성적표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한 모델이 모든 항목에서 1등은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val mAP50-95는 val, 나머지는 test 이미지 기준(가짜 정상·합성 점은 인위 이미지). 상세 수치는 docs/experiments.md.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4711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828800"/>
                <a:gridCol w="1828800"/>
                <a:gridCol w="1280159"/>
                <a:gridCol w="164592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test F1
(IoU 0.5)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val mAP50-95
(전체 / 공식만)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가짜 정상 오경보
(NS+노이즈 6)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합성 점 AP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3호기 합성 점
(대비 14 이상)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파라미터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D-FINE-N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0.655 / 0.343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49.3%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0.574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89%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</a:rPr>
                        <a:t>3.7M</a:t>
                      </a:r>
                    </a:p>
                  </a:txBody>
                  <a:tcPr anchor="ctr" marL="54864" marR="54864">
                    <a:solidFill>
                      <a:srgbClr val="DD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RT-DETR-l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0.988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0.662 / 0.357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36.6%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0.451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61%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32.8M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R50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0.615 / 0.337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0.567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75%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41.4M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YOLO26n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0.991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0.642 / 0.314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4.1%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0.501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62%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2.5M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YOLOv3-tiny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0.579 / 0.311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38.5%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0.515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8.7M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MobileNetV3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0.986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0.583 / 0.322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64.0%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0.262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4%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19.0M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점 제거는 6개 모델 모두 0~3개만 남아 차이가 없다. test F1은 모두 포화다.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베스트 모델: D-FINE-N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val 동률 선두 + 미탐지 강건성 최상 + 작다(3.7M)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선정 기준 ①②③은 팀원 모델 추가 전에 정했다. '미탐지 우선'은 결과를 본 뒤 정한 우선순위다. 상세는 docs/analysis.md 5절.</a:t>
            </a:r>
          </a:p>
        </p:txBody>
      </p:sp>
      <p:pic>
        <p:nvPicPr>
          <p:cNvPr id="7" name="Picture 6" descr="fig5e_select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90775"/>
            <a:ext cx="7863840" cy="28992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691640"/>
            <a:ext cx="36576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약점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: 노이즈 보간 오경보 49%, 신뢰도가 0.9 근처에서 포화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대안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: 오경보 우선이면 R50 / YOLO26n, CPU 전용이면 YOLOv3-tiny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'미탐지 우선'은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결과를 본 뒤 정한 우선순위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라 보고서에 그대로 밝힌다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1556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① val mAP50-95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: val 이미지 복원추출 1,000회로 비교하니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RT-DETR-l 0.662와 D-FINE-N 0.655가 동률 선두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(차이 −0.008, 95% 구간 −0.016~0.000). R50·YOLO26n은 유의하게 낮고, 공식 라벨만 보면 R50도 동률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② 동률이면 강건성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: 합성 점 AP와 3호기 검출은 D-FINE-N 우세(0.574 대 0.451, 89% 대 61%), 가짜 정상 오경보는 RT-DETR-l 우세(37% 대 49%) → 놓침이 더 비싸다고 보아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미탐지를 우선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400" b="1">
                <a:solidFill>
                  <a:srgbClr val="222222"/>
                </a:solidFill>
                <a:latin typeface="맑은 고딕"/>
              </a:rPr>
              <a:t>③ 크기</a:t>
            </a:r>
            <a:r>
              <a:rPr sz="1400" b="0">
                <a:solidFill>
                  <a:srgbClr val="222222"/>
                </a:solidFill>
                <a:latin typeface="맑은 고딕"/>
              </a:rPr>
              <a:t>: 3.7M(15MB)로 RT-DETR-l(32.8M)의 약 1/9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현장 활용: 3단 판정과 재검사 구간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실제 test에서는 결함 369장(≥0.748)과 빈 라벨 27장(≤0.04)이 완전히 갈린다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재검사 구간의 효과는 합성·가짜 정상에 기반한 참고 수치다. 재검사·놓침 비용은 현장 값을 몰라 가정하지 않았다.</a:t>
            </a:r>
          </a:p>
        </p:txBody>
      </p:sp>
      <p:pic>
        <p:nvPicPr>
          <p:cNvPr id="7" name="Picture 6" descr="fig4b_final_d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94" y="1508760"/>
            <a:ext cx="8785931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846320"/>
            <a:ext cx="107899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불합격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최고 신뢰도 ≥ 0.66(val 임계값)  | 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재검사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0.3 ~ 0.66  | 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합격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&lt; 0.3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하한을 0.3으로 낮추면 옅은 점 검출 61.9% → 67.1%, 대신 가짜 정상 오경보 4.1% → 5.7%(평균 보간), 49% → 59%(노이즈 보간)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오경보가 비싼 현장은 재검사 구간의 이득이 작다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모델 선택 가이드와 처리 속도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촬영 간격(중앙값 4초)보다 모든 모델이 빠르다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59436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기본(최종 모델)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D-FINE-N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val 동률 선두, 미탐지 강건성 최상, 3.7M. 노이즈 오경보 49%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오경보가 중요한 현장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Faster R-CNN R50 또는 YOLO26n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노이즈 오경보 0.5%·4.1%. R50은 느리고 YOLO26n은 3호기 합성 점에 약함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CPU 전용 / 최경량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YOLOv3-tiny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CPU 4스레드 43ms, 정확도 손실이 작음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비권장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MobileNetV3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위치 의존, 합성 점 AP 0.262, 노이즈 오경보 34~64%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800600"/>
          <a:ext cx="11064237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754"/>
                <a:gridCol w="1468704"/>
                <a:gridCol w="1468704"/>
                <a:gridCol w="1174963"/>
                <a:gridCol w="1468704"/>
                <a:gridCol w="1468704"/>
                <a:gridCol w="1468704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처리 속도 (이미지 1장)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YOLOv3-tiny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MobileNetV3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R50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D-FINE-N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YOLO26n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RT-DETR-l</a:t>
                      </a:r>
                    </a:p>
                  </a:txBody>
                  <a:tcPr anchor="ctr" marL="54864" marR="54864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GPU (ms)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4.8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11.3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48.4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26~92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14~46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33~92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CPU 4스레드 (ms)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43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73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756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114~473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139~400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496~505</a:t>
                      </a:r>
                    </a:p>
                  </a:txBody>
                  <a:tcPr anchor="ctr" marL="54864" marR="5486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앞 3개 모델과 뒤 3개 모델은 측정 방식이 달라(전처리 포함, 두 번 측정한 범위, 실행마다 변동) 직접 비교하지 않는다. 현장 장비 사양은 알지 못한다.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차별점: 점수를 믿게 만드는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못 찾은 것의 원인을 확인하고, 일반화까지 시험해 모델을 골랐다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오류의 원인 규명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놓친 것이 아니라 라벨 박스 크기 차이임을 확대 확인하고,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중심 거리 평가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로 재채점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점 제거 시험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결함을 지워 모델이 점 자체를 보는지 확인 → 지름길 우려 해소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가짜 정상과 합성 점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정상 이미지가 없는 데이터에서 오경보·미탐지 조건(옅은 점, 위치, 호기)을 정량화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임계값과 무관한 비교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AP·오경보 예산으로 임계값 효과를 걷어냄(D-FINE-N의 우위가 임계값 효과임을 확인)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공유 가능한 평가 데이터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시드 42 합성 데이터 + 기준본 검증으로 팀 모두가 같은 시험을 재현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분석을 조치로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: 취약점이 모델 선택 가이드와 재검사 구간으로 이어짐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코드 구성과 재현성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전처리 · 학습 · 추론 · 평가 · 분석을 폴더별로 분리하고 실행 명령을 문서화했다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01800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맑은 고딕"/>
              </a:rPr>
              <a:t>전처리 코드는 이총의 브랜치에 있어 main 병합이 필요하다. 한 번에 실행하는 스크립트와 테스트 예측 결과 CSV는 제출 전에 정리할 항목이다 [작성 필요].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5778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환경: conda KAMP(Python 3.10), torch 2.6, 한글 경로용 PYTHONUTF8=1, requirements.txt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src/yolov3/: 베이스라인(호환 수정본)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src/minyeop/: Faster R-CNN, MobileNet, YOLOv3-tiny, 팀원 모델 평가, 분석(점 제거, 가짜 정상, 합성 점, 호기 통계)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scripts/synth_eval.py: 시드 42 합성 평가 데이터 생성기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docs/: 지표, 실험 결과 표, 분석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평가 규칙: 임계값은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val에서 고정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test는 한 번만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데이터 버전: manifest.csv의 sha256으로 확인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합성 평가 데이터: 기준본과 --verify로 비교(위치·조건·픽셀 해시)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모델 선정: val 부트스트랩 구간으로 "동률"을 객관적으로 판정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모든 수치의 출처 파일을 docs/와 runs/에 보존(예측 JSON은 제외)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한계와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AA7B8"/>
                </a:solidFill>
                <a:latin typeface="맑은 고딕"/>
              </a:rPr>
              <a:t>숨기지 않고 적는다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합성 점과 가짜 정상은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인위적인 이미지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다. 실제 현장 성능이 아니라 상대 비교와 취약점 탐색으로만 해석한다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강건성 시험은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test 이미지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로 먼저 수행했다. 모델 선정에는 val 지표만 썼지만, 선정 근거로 쓰려면 val로 반복해야 한다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'미탐지 우선'이라는 우선순위는 결과를 본 뒤 정했다. 오경보 우선이면 선정이 바뀐다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표시(색 사각형) 제거의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흔적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이 단서가 되는지는 검증하지 못했다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학습 시드가 하나이고, 팀원 모델은 학습 조건이 우리와 다르다(임계값은 우리 규칙으로 재선정)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속도는 노트북에서 측정했고 실행마다 변동이 크다. 현장 장비 사양과 재검사 비용은 알지 못한다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향후: 흔적 검증(원본 BMP 2x2 실험), 실제 정상 제품 이미지 확보, val 반복, 합성 점 대조군(s=0)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맑은 고딕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맑은 고딕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6개 모델을 같은 조건으로 학습·평가했고 F1은 0.99 안팎이었다. 몇 개 못 찾은 것은 </a:t>
            </a:r>
            <a:r>
              <a:rPr sz="2200" b="1">
                <a:solidFill>
                  <a:srgbClr val="222222"/>
                </a:solidFill>
                <a:latin typeface="맑은 고딕"/>
              </a:rPr>
              <a:t>공식 라벨의 박스 크기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 때문이었고 </a:t>
            </a:r>
            <a:r>
              <a:rPr sz="2200" b="1">
                <a:solidFill>
                  <a:srgbClr val="222222"/>
                </a:solidFill>
                <a:latin typeface="맑은 고딕"/>
              </a:rPr>
              <a:t>중심 거리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로 재채점하면 거의 다 찾았다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일반화·robust 평가로 진짜 차이가 드러났다: </a:t>
            </a:r>
            <a:r>
              <a:rPr sz="2200" b="1">
                <a:solidFill>
                  <a:srgbClr val="222222"/>
                </a:solidFill>
                <a:latin typeface="맑은 고딕"/>
              </a:rPr>
              <a:t>옅은 결함, 노이즈 무늬 오경보, MobileNetV3의 위치 의존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종합해서 </a:t>
            </a:r>
            <a:r>
              <a:rPr sz="2200" b="1">
                <a:solidFill>
                  <a:srgbClr val="222222"/>
                </a:solidFill>
                <a:latin typeface="맑은 고딕"/>
              </a:rPr>
              <a:t>D-FINE-N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을 베스트 모델로 선정: val 동률 선두, 미탐지 강건성 최상, 작다. 약점(노이즈 오경보)은 임계값·재검사 구간과 대안 모델로 관리한다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AA7B8"/>
                </a:solidFill>
                <a:latin typeface="맑은 고딕"/>
              </a:rPr>
              <a:t>• 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공유 가능한 합성 평가 데이터와 검증 코드로 </a:t>
            </a:r>
            <a:r>
              <a:rPr sz="2200" b="1">
                <a:solidFill>
                  <a:srgbClr val="222222"/>
                </a:solidFill>
                <a:latin typeface="맑은 고딕"/>
              </a:rPr>
              <a:t>팀 모두가 같은 시험을 재현</a:t>
            </a:r>
            <a:r>
              <a:rPr sz="2200" b="0">
                <a:solidFill>
                  <a:srgbClr val="222222"/>
                </a:solidFill>
                <a:latin typeface="맑은 고딕"/>
              </a:rPr>
              <a:t>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발표자료</dc:title>
  <dc:subject/>
  <dc:creator/>
  <cp:keywords/>
  <dc:description/>
  <cp:lastModifiedBy/>
  <cp:revision>1</cp:revision>
  <dcterms:created xsi:type="dcterms:W3CDTF">2026-10-07T16:15:15Z</dcterms:created>
  <dcterms:modified xsi:type="dcterms:W3CDTF">2026-10-07T16:15:15Z</dcterms:modified>
  <cp:category/>
</cp:coreProperties>
</file>