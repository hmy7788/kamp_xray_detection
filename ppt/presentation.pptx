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장비가 그린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색 표시는 전처리로 제거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(다음 슬라이드)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전처리: 색 윤곽만 지우고 점은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장비가 그린 색 사각형을 주변 회색 5x5 평균으로 메운 뒤 회색조 PNG로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fig5a_pre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69" y="1600200"/>
            <a:ext cx="706554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색 표시는 결함 둘레의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가는 사각형 윤곽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(장당 128~660픽셀), 점은 그대로 남는다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지우는 이유: 공식 라벨 중심의 99.8%가 색 박스 안 → 지우지 않으면 모델이 "색 네모 찾기"를 배운다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원본 BMP에 같은 방법을 다시 적용하면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2,532장 모두 픽셀 단위로 일치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(검증 코드 포함)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코드는 이총의 브랜치(scripts/preprocess/)에 있고 main 병합이 필요하다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라벨링: 사람이 직접 만든 박스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공식 라벨 500장(사람이 그림)과 팀 라벨 2,032장(점을 클릭하면 박스가 자동 생성)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팀 라벨링 방식은 이총의 scripts/preprocess/labeling/LABELING.md 기준. 박스는 test 이미지에 그렸다.</a:t>
            </a:r>
          </a:p>
        </p:txBody>
      </p:sp>
      <p:pic>
        <p:nvPicPr>
          <p:cNvPr id="7" name="Picture 6" descr="fig6a_label_w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85" y="1508760"/>
            <a:ext cx="5443109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83080"/>
            <a:ext cx="44805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500장(박스 1,147개): KAMP 제공, 사람이 박스를 그려 크기가 제각각(5~21px)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팀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2,032장(박스 3,347개): 팀원 3명(674·678·680장)이 Label Studio에서 금속구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한가운데를 클릭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하면 1초 뒤 박스가 자동 생성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연속 사진은 점이 몇 px씩 움직여 매 장 새로 찍었고, 못 찾으면 건너뛰어 빈 라벨로 처리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자체(지름 몇 px의 검은 점)를 찍고, 흐릿한 얼룩은 찍지 않는다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박스 확대: 공식은 제각각, 팀은 고정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팀 라벨은 클릭 좌표를 중심으로 한 변 10px × (이미지 높이 / 332)의 정사각형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3호기 팀 박스 1,129개 중 3개(한 이미지)만 17.7x18.6px로 예외이고 나머지는 13.4px이다.</a:t>
            </a:r>
          </a:p>
        </p:txBody>
      </p:sp>
      <p:pic>
        <p:nvPicPr>
          <p:cNvPr id="7" name="Picture 6" descr="fig6b_label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24" y="1508760"/>
            <a:ext cx="736067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공식 라벨 한 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6~21px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(호기별 중앙값 10·11·14px)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팀 라벨: 1·2호기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10px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3호기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13.4px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공식 라벨 한 변 중앙값에 맞춘 값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고정 크기라 사람마다 크기가 달라지지 않지만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결함 크기 정보가 없다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→ 모델이 같은 크기만 내도 IoU가 잘 맞아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점수가 부풀려진다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①: 분할과 라벨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이미지 2,532장, 박스 4,494개, 모든 이미지에 라벨 파일이 있다(빈 라벨 105장)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data/manifest.csv와 라벨 파일을 직접 센 값. 촬영 묶음(burst) 단위 무작위 분할, 시드 42. 3호기 팀 박스 1,129개 중 3개(한 이미지)만 17.7x18.6px로 예외이고 나머지는 13.4px 고정.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3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576"/>
                <a:gridCol w="1144576"/>
                <a:gridCol w="1144576"/>
                <a:gridCol w="1621483"/>
                <a:gridCol w="2193771"/>
                <a:gridCol w="2193771"/>
                <a:gridCol w="1621483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촬영 묶음(burst)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3,225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356 (815)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1,411 (2,410)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382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606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 (139)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310 (467)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663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27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85 (193)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311 (470)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547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박스 한 변의 길이(px): 최소 / 중앙값 / 최대 (박스 수)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343400"/>
          <a:ext cx="1106423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라벨 출처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공식 라벨 (사람이 그림, 500장)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 / 10 / 14 (404)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 / 11 / 18 (376)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 / 14 / 21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팀 라벨 (고정 크기 자동 생성, 2,032장)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(1,143)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13.4 / 13.4 / 18.6 (1,129)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22222"/>
                </a:solidFill>
                <a:latin typeface="맑은 고딕"/>
              </a:rPr>
              <a:t>팀 라벨은 3명이 674·678·680장씩 작성. 촬영 시기 6~9월(6월 447장, 7월 841장, 8월 184장, 9월 1,060장). 이미지는 회색조 PNG, 라벨은 YOLO txt(클래스 1개)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②: 호기·해상도별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해상도는 호기별로 고정이 아니고, 빈 라벨 105장 중 104장이 1호기 412x332다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data/manifest.csv. 파일명 접두 001/002는 호기가 아니다. 호기는 manifest의 machine 열이다.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3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793"/>
                <a:gridCol w="1134793"/>
                <a:gridCol w="1040227"/>
                <a:gridCol w="945661"/>
                <a:gridCol w="945661"/>
                <a:gridCol w="1134793"/>
                <a:gridCol w="1134793"/>
                <a:gridCol w="1796756"/>
                <a:gridCol w="179675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943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1,547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156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177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2,032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호기 x 해상도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110642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1505"/>
                <a:gridCol w="1159960"/>
                <a:gridCol w="981505"/>
                <a:gridCol w="1873782"/>
                <a:gridCol w="981505"/>
                <a:gridCol w="981505"/>
                <a:gridCol w="2052238"/>
                <a:gridCol w="20522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train / val / 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329 / 40 / 62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 (32)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399 (399)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352x332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273 / 73 / 46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1,100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124 (372)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268 (728)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412x332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70 / 21 / 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 (16)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573 / 102 / 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177 (376)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628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576x444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522 / 133 / 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167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617 (1,129)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4종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1,767 / 369 / 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평가 아키텍처: 같은 코드로 모든 모델을 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임계값은 val에서 정해 고정하고, test는 한 번만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평가(정답 있음)는 신뢰도와 IoU(또는 중심 거리)를 둘 다 보고, 현장 판정(정답 없음)은 신뢰도만 본다. 코드: src/minyeop/faster_rcnn/metrics.py, report.py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① 예측과 임계값 선정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데이터 v2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train 1,767 · val 369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 396 · 분할 시드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학습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6개 모델, train만 사용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학습에 쓰지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val 예측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0.001 이상 검출을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전부 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임계값 선정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val에서 F1이 최대인 값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모델마다 따로 정해 고정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test 예측 (1회)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고정한 임계값으로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한 번만 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② 채점 (정답 있음): 신뢰도와 IoU를 둘 다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 필터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≥ 임계값인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검출만 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매칭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높은 순으로 정답 1개에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 1개 짝짓기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IoU ≥ 0.5 (기본)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중심 거리 ≤ R px (v2)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TP / FP / FN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짝이 있으면 TP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검출 FP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정답 FN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지표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P · R · F1(고정 임계값)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AP50, mAP50-95(임계값 무관)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전체 / 공식 라벨만, 호기별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③ 일반화·robust 평가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212080"/>
            <a:ext cx="6309360" cy="109728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같은 임계값, 이미지만 바꿔 시험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점 제거 · 가짜 정상 · 합성 점 · 호기별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이미지 단위 오경보율, 합성 점 검출률·AP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892040"/>
            <a:ext cx="4754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현장 판정 (정답 없음)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5212080"/>
            <a:ext cx="4754880" cy="109728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신뢰도만 본다 (IoU 사용 안 함)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이미지 최고 신뢰도 ≥ 임계값이면 NG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불합격 / 재검사 / 합격 3단 판정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실제 검출 예시: 6개 모델이 같은 점을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호기마다 한 장씩, 초록 = 정답, 색 = 모델의 검출과 신뢰도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pic>
        <p:nvPicPr>
          <p:cNvPr id="6" name="Picture 5" descr="fig5b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0" y="1508759"/>
            <a:ext cx="6379899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1~3행: 6개 모델 모두 점을 정확히 감싼다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신뢰도 척도가 모델마다 다르다(YOLOv3-tiny 0.4~0.5, 나머지 0.8~1.0) → 임계값을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모델마다 val에서 따로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정한 이유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4행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점은 찾았지만 정답 박스(초록)가 더 커서 IoU가 0.5에 못 미친다 → "못 찾음"으로 집계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R마다 val에서 임계값을 다시 정했다(평가 v2). 6개 모델 전부, test 정답 663개.</a:t>
            </a:r>
          </a:p>
        </p:txBody>
      </p:sp>
      <p:pic>
        <p:nvPicPr>
          <p:cNvPr id="7" name="Picture 6" descr="fig7a_v2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67" y="1554480"/>
            <a:ext cx="9419584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29200"/>
            <a:ext cx="111556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R = 3px에서 F1은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0.997~1.000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R = 4~5px에서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IoU 0.5는 사실상 "중심이 2px 이내인가"를 재고 있었다(R = 2px에서 8~23개). R = 1px에서만 차이가 크다(YOLO26n 0.814, D-FINE-N 0.805, RT-DETR-l 0.804 &gt; R50 0.771 &gt; YOLOv3-tiny 0.719 &gt; MobileNetV3 0.682)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중심 거리 R별 결과: 6개 모델 전부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 (못 찾은 정답 수). R마다 val에서 임계값을 다시 정해 test에 한 번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평가 v2. R=1~3의 기존 3개 모델 값은 docs/experiments.md의 이전 표와 모두 같다(재현 확인). 공식 라벨만 보면 값이 더 낮다(docs/experiments.md).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064235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9915"/>
                <a:gridCol w="1430720"/>
                <a:gridCol w="1430720"/>
                <a:gridCol w="1430720"/>
                <a:gridCol w="1430720"/>
                <a:gridCol w="1430720"/>
                <a:gridCol w="1430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 / R (px)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1.5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R50-FPN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0.771  (152)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0.953  (31)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0.988  (8)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0.719  (186)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0.934  (44)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0.982  (12)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MobileNetV3-FPN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0.682  (211)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0.900  (66)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0.965  (23)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0.997  (2)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0.814  (123)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0.950  (33)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0.983  (11)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0.804  (130)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0.947  (35)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0.983  (11)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0.805  (130)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0.947  (35)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0.988  (8)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5216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R이 작을수록 모델 차이가 보이고(1px), R = 3px부터 포화한다. 2px는 IoU 0.5와 엄격도가 비슷해 함께 보고했다.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pic>
        <p:nvPicPr>
          <p:cNvPr id="6" name="Picture 5" descr="fig7b_dot_removal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31" y="1554480"/>
            <a:ext cx="8677656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 예시: 노이즈 무늬를 점으로 착각한다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평균 보간으로 지우면 반응이 없지만, 노이즈를 더하면 일부 모델이 반응한다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예시 두 장(집계는 앞 슬라이드의 369장). 이 예시의 노이즈는 이미지마다 새 난수(시드 0)로 만들어 집계용 이미지와 값이 다르다.</a:t>
            </a:r>
          </a:p>
        </p:txBody>
      </p:sp>
      <p:pic>
        <p:nvPicPr>
          <p:cNvPr id="7" name="Picture 6" descr="fig5c_fak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15" y="1463040"/>
            <a:ext cx="5296168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783080"/>
            <a:ext cx="4663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왼쪽 열: 원본 → 6개 모델이 모두 검출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가운데: 평균 보간으로 점을 지움 → 반응 없음(점이 단서)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오른쪽 아래(1호기): NS 보간 + 노이즈로 지운 자리의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노이즈 무늬를 점으로 착각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해 YOLOv3-tiny, MobileNetV3, RT-DETR-l, D-FINE-N이 반응, R50과 YOLO26n은 반응 없음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점의 모양보다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질감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 반응하는 모델이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조건별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진하기(s)와 크기(f)를 바꾸면 대비가 달라지고, 대비가 낮을수록 눈에도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pic>
        <p:nvPicPr>
          <p:cNvPr id="6" name="Picture 5" descr="fig3n_synth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54" y="1600200"/>
            <a:ext cx="954301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899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s = 깊이 배율(1.0이 실제 점 세기), f = 크기 배율, 대비 = 둘레 밝기 − 점 밝기. 40x40px를 7배 확대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 6 미만은 거의 보이지 않고 모든 모델이 못 찾는다. 실제 test 점의 대비 중앙값은 22.8이라 s=1.0 근처가 실제 수준이다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1차: 위치를 바꿔 시험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무작위 자리에서 MobileNetV3는 크게, YOLO26n·RT-DETR-l은 일부 떨어진다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1차 합성은 막대 밖 자리도 포함하고 합성 점의 사각형 자국이 교란 요인이다. 같은 시드로 기존 3개 모델 값이 모두 재현됐다. 합성 점이므로 상대 비교로만 쓴다.</a:t>
            </a:r>
          </a:p>
        </p:txBody>
      </p:sp>
      <p:pic>
        <p:nvPicPr>
          <p:cNvPr id="7" name="Picture 6" descr="fig7d_synth_insert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3240"/>
            <a:ext cx="11430000" cy="32914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29200"/>
            <a:ext cx="111556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실제 세기·크기(s=1.0, f=1.0): 원래 자리는 6개 모델 모두 90~97%, 무작위 자리는 D-FINE-N 93%, YOLOv3-tiny 90%, R50 89%, RT-DETR-l 85%, YOLO26n 75%,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MobileNetV3 30%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원래 → 무작위 하락: MobileNetV3 -67%p, YOLO26n -17%p, RT-DETR-l -7%p, R50·YOLOv3-tiny·D-FINE-N은 거의 없음. 무작위 자리의 옅은 점(대비 10~14)은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D-FINE-N 58%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로 가장 많이 찾는다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그룹(test)은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24</a:t>
            </a:r>
          </a:p>
        </p:txBody>
      </p:sp>
      <p:pic>
        <p:nvPicPr>
          <p:cNvPr id="6" name="Picture 5" descr="fig7c_groups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4716"/>
            <a:ext cx="11430000" cy="32485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비율(test 기준)이 10~76%로 달라 라벨 구성이 섞인다. 공식 라벨 이미지끼리만 비교하면 6개 모델의 해상도별 F1이 0.944~0.983으로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6개 모델 모두 가장 낮은 그룹은 1호기·352x332(F1 0.953~0.966)다. 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pic>
        <p:nvPicPr>
          <p:cNvPr id="7" name="Picture 6" descr="fig5e_select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0775"/>
            <a:ext cx="7863840" cy="28992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691640"/>
            <a:ext cx="36576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'미탐지 우선'은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결과를 본 뒤 정한 우선순위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라 보고서에 그대로 밝힌다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155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(차이 −0.008, 95% 구간 −0.016~0.000). R50·YOLO26n은 유의하게 낮고, 공식 라벨만 보면 R50도 동률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합성 점 AP와 3호기 검출은 D-FINE-N 우세(0.574 대 0.451, 89% 대 61%), 가짜 정상 오경보는 RT-DETR-l 우세(37% 대 49%) → 놓침이 더 비싸다고 보아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미탐지를 우선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약 70ms(6개 중 가장 빠름),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572000"/>
          <a:ext cx="1106423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1장, ms)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10.0~11.5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46~47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8.9~9.6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29~30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1스레드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79~159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119~122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1,020~1,858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130~155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99~126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530~597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68~75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75~88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981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100~113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86~110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465~549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16스레드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64~66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95~98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838~853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133~134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102~103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464~471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2362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6개 모델을 같은 스크립트·같은 조건(전처리 제외, 모델 연산+후처리, 배치 1, fp32)으로 2회 반복해 잰 중앙값의 범위. GPU는 안정적(±1ms), CPU는 패스마다 크게 변동. 현장 장비 사양은 알지 못한다.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코드는 이총의 브랜치에 있어 main 병합이 필요하다. 한 번에 실행하는 스크립트와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위치 의존(MobileNetV3가 가장 크고 YOLO26n·RT-DETR-l도 일부)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2026-10-07T16:58:48Z</dcterms:created>
  <dcterms:modified xsi:type="dcterms:W3CDTF">2026-10-07T16:58:48Z</dcterms:modified>
  <cp:category/>
</cp:coreProperties>
</file>